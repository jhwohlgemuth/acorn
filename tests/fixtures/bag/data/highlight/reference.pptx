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4"/>
  </p:sldMasterIdLst>
  <p:notesMasterIdLst>
    <p:notesMasterId r:id="rId6"/>
  </p:notesMasterIdLst>
  <p:sldIdLst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81BD"/>
    <a:srgbClr val="0000FF"/>
    <a:srgbClr val="020079"/>
    <a:srgbClr val="EEEE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1221BC-4040-40C0-A418-1C4EE05B5C95}" v="1" dt="2025-02-24T00:07:43.6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 autoAdjust="0"/>
    <p:restoredTop sz="94726" autoAdjust="0"/>
  </p:normalViewPr>
  <p:slideViewPr>
    <p:cSldViewPr snapToGrid="0">
      <p:cViewPr varScale="1">
        <p:scale>
          <a:sx n="120" d="100"/>
          <a:sy n="120" d="100"/>
        </p:scale>
        <p:origin x="712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134BE1-65F2-4435-8B51-6A5EBDF683AE}" type="datetimeFigureOut">
              <a:rPr lang="en-US" smtClean="0"/>
              <a:t>5/30/25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04650E-E198-4FA3-A1E8-C9B561D8C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81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Arial"/>
                <a:cs typeface="Arial"/>
                <a:sym typeface="Arial"/>
              </a:rPr>
              <a:t>{{ notes }}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4650E-E198-4FA3-A1E8-C9B561D8C60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758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C4E134E1-BAAB-ABAB-63C2-F841ED85E0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4870" y="231578"/>
            <a:ext cx="1347860" cy="32401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D265990-C2AC-43F4-A5F5-C94F93DD392D}"/>
              </a:ext>
            </a:extLst>
          </p:cNvPr>
          <p:cNvSpPr/>
          <p:nvPr userDrawn="1"/>
        </p:nvSpPr>
        <p:spPr>
          <a:xfrm>
            <a:off x="0" y="6320118"/>
            <a:ext cx="12192000" cy="537882"/>
          </a:xfrm>
          <a:prstGeom prst="rect">
            <a:avLst/>
          </a:prstGeom>
          <a:solidFill>
            <a:srgbClr val="0B2C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2667" y="6373156"/>
            <a:ext cx="2149533" cy="394974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9943949" y="6398798"/>
            <a:ext cx="224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>
                <a:solidFill>
                  <a:schemeClr val="bg1"/>
                </a:solidFill>
                <a:latin typeface="AvenirNext LT Pro Regular" panose="020B0504020202020204" pitchFamily="34" charset="0"/>
              </a:rPr>
              <a:t>Energy.gov/science</a:t>
            </a:r>
          </a:p>
        </p:txBody>
      </p:sp>
    </p:spTree>
    <p:extLst>
      <p:ext uri="{BB962C8B-B14F-4D97-AF65-F5344CB8AC3E}">
        <p14:creationId xmlns:p14="http://schemas.microsoft.com/office/powerpoint/2010/main" val="244195493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098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6110527-3D5E-DE8A-91D6-0E66981F1564}"/>
              </a:ext>
            </a:extLst>
          </p:cNvPr>
          <p:cNvSpPr/>
          <p:nvPr/>
        </p:nvSpPr>
        <p:spPr>
          <a:xfrm>
            <a:off x="7066844" y="4720433"/>
            <a:ext cx="4854918" cy="1348384"/>
          </a:xfrm>
          <a:prstGeom prst="rect">
            <a:avLst/>
          </a:prstGeom>
          <a:solidFill>
            <a:srgbClr val="8281BD">
              <a:alpha val="12941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7CB983-3D4F-3FB4-37F0-5EBAA0E939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2044" y="69211"/>
            <a:ext cx="10515600" cy="657336"/>
          </a:xfrm>
        </p:spPr>
        <p:txBody>
          <a:bodyPr>
            <a:normAutofit/>
          </a:bodyPr>
          <a:lstStyle/>
          <a:p>
            <a:r>
              <a:rPr lang="en-US" sz="4000" dirty="0"/>
              <a:t>{{ title }}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3928D5-0D5A-21A1-33A7-B36236255477}"/>
              </a:ext>
            </a:extLst>
          </p:cNvPr>
          <p:cNvSpPr txBox="1"/>
          <p:nvPr/>
        </p:nvSpPr>
        <p:spPr>
          <a:xfrm>
            <a:off x="320054" y="626408"/>
            <a:ext cx="6746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{{ subtitle }}</a:t>
            </a:r>
          </a:p>
        </p:txBody>
      </p:sp>
      <p:sp>
        <p:nvSpPr>
          <p:cNvPr id="7" name="Google Shape;25;p1">
            <a:extLst>
              <a:ext uri="{FF2B5EF4-FFF2-40B4-BE49-F238E27FC236}">
                <a16:creationId xmlns:a16="http://schemas.microsoft.com/office/drawing/2014/main" id="{35E5E467-2727-969B-98F3-BA95D001A982}"/>
              </a:ext>
            </a:extLst>
          </p:cNvPr>
          <p:cNvSpPr/>
          <p:nvPr/>
        </p:nvSpPr>
        <p:spPr>
          <a:xfrm>
            <a:off x="245185" y="1144497"/>
            <a:ext cx="6453289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"/>
                <a:cs typeface="Arial"/>
                <a:sym typeface="Arial"/>
              </a:rPr>
              <a:t>Scientific Achievement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cs typeface="Arial"/>
              <a:sym typeface="Arial"/>
            </a:endParaRPr>
          </a:p>
          <a:p>
            <a:pPr marL="285750" indent="-28575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400" kern="0" dirty="0">
                <a:cs typeface="Arial"/>
                <a:sym typeface="Arial"/>
              </a:rPr>
              <a:t>{{ achievement }}</a:t>
            </a:r>
          </a:p>
        </p:txBody>
      </p:sp>
      <p:sp>
        <p:nvSpPr>
          <p:cNvPr id="8" name="Google Shape;26;p1">
            <a:extLst>
              <a:ext uri="{FF2B5EF4-FFF2-40B4-BE49-F238E27FC236}">
                <a16:creationId xmlns:a16="http://schemas.microsoft.com/office/drawing/2014/main" id="{0607B843-0CBD-294A-51EC-D86D699F90C2}"/>
              </a:ext>
            </a:extLst>
          </p:cNvPr>
          <p:cNvSpPr/>
          <p:nvPr/>
        </p:nvSpPr>
        <p:spPr>
          <a:xfrm>
            <a:off x="238507" y="2825499"/>
            <a:ext cx="6693919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"/>
                <a:cs typeface="Arial"/>
                <a:sym typeface="Arial"/>
              </a:rPr>
              <a:t>Significance and Impact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cs typeface="Arial"/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"/>
                <a:cs typeface="Arial"/>
                <a:sym typeface="Arial"/>
              </a:rPr>
              <a:t>{{ impact }}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cs typeface="Arial"/>
              <a:sym typeface="Arial"/>
            </a:endParaRPr>
          </a:p>
        </p:txBody>
      </p:sp>
      <p:sp>
        <p:nvSpPr>
          <p:cNvPr id="9" name="Google Shape;27;p1">
            <a:extLst>
              <a:ext uri="{FF2B5EF4-FFF2-40B4-BE49-F238E27FC236}">
                <a16:creationId xmlns:a16="http://schemas.microsoft.com/office/drawing/2014/main" id="{34B9808A-90A5-22A7-F1DB-47BF387DC938}"/>
              </a:ext>
            </a:extLst>
          </p:cNvPr>
          <p:cNvSpPr txBox="1"/>
          <p:nvPr/>
        </p:nvSpPr>
        <p:spPr>
          <a:xfrm>
            <a:off x="7467989" y="3862267"/>
            <a:ext cx="4560581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Arial"/>
                <a:cs typeface="Arial"/>
                <a:sym typeface="Arial"/>
              </a:rPr>
              <a:t>{{ caption }}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/>
              <a:sym typeface="Arial"/>
            </a:endParaRPr>
          </a:p>
        </p:txBody>
      </p:sp>
      <p:pic>
        <p:nvPicPr>
          <p:cNvPr id="10" name="Google Shape;28;p1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B65D9E82-8CC3-FB65-BB90-813719EFA8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74798" y="994248"/>
            <a:ext cx="4346965" cy="277534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</p:pic>
      <p:sp>
        <p:nvSpPr>
          <p:cNvPr id="11" name="Google Shape;29;p1">
            <a:extLst>
              <a:ext uri="{FF2B5EF4-FFF2-40B4-BE49-F238E27FC236}">
                <a16:creationId xmlns:a16="http://schemas.microsoft.com/office/drawing/2014/main" id="{F719EDE8-762E-1830-067F-4414F9F31C7C}"/>
              </a:ext>
            </a:extLst>
          </p:cNvPr>
          <p:cNvSpPr/>
          <p:nvPr/>
        </p:nvSpPr>
        <p:spPr>
          <a:xfrm>
            <a:off x="238507" y="4506500"/>
            <a:ext cx="6693919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"/>
                <a:cs typeface="Arial"/>
                <a:sym typeface="Arial"/>
              </a:rPr>
              <a:t>Technical Approach</a:t>
            </a:r>
          </a:p>
          <a:p>
            <a:pPr marL="285750" indent="-28575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"/>
                <a:cs typeface="Arial"/>
                <a:sym typeface="Arial"/>
              </a:rPr>
              <a:t>{{ technical }}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cs typeface="Arial"/>
              <a:sym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742054-4F8C-D401-63CE-FEFFCD6C2810}"/>
              </a:ext>
            </a:extLst>
          </p:cNvPr>
          <p:cNvSpPr txBox="1"/>
          <p:nvPr/>
        </p:nvSpPr>
        <p:spPr>
          <a:xfrm>
            <a:off x="7066844" y="4791544"/>
            <a:ext cx="4854918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  <a:sym typeface="Arial"/>
              </a:rPr>
              <a:t>PI(s)/Facility Lead(s)</a:t>
            </a:r>
            <a:r>
              <a:rPr kumimoji="0" lang="en-US" sz="11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  <a:sym typeface="Arial"/>
              </a:rPr>
              <a:t>: </a:t>
            </a:r>
            <a:r>
              <a:rPr lang="en-US" sz="1100" kern="0" dirty="0">
                <a:solidFill>
                  <a:srgbClr val="000000"/>
                </a:solidFill>
                <a:sym typeface="Arial"/>
              </a:rPr>
              <a:t>{{ first }} {{ last }}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  <a:sym typeface="Arial"/>
              </a:rPr>
              <a:t>Collaborating Institution(s)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  <a:sym typeface="Arial"/>
              </a:rPr>
              <a:t>: {{ partners }}</a:t>
            </a:r>
            <a:endParaRPr kumimoji="0" lang="en-US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  <a:sym typeface="Arial"/>
              </a:rPr>
              <a:t>ASCR Program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  <a:sym typeface="Arial"/>
              </a:rPr>
              <a:t>: {{ programs }}</a:t>
            </a:r>
            <a:endParaRPr kumimoji="0" lang="en-US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  <a:sym typeface="Arial"/>
              </a:rPr>
              <a:t>ASCR PM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  <a:sym typeface="Arial"/>
              </a:rPr>
              <a:t>: {{ managers }}</a:t>
            </a:r>
            <a:endParaRPr kumimoji="0" lang="en-US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  <a:sym typeface="Arial"/>
              </a:rPr>
              <a:t>Publication(s) for this work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  <a:sym typeface="Arial"/>
              </a:rPr>
              <a:t>: {{ citation }}</a:t>
            </a:r>
          </a:p>
        </p:txBody>
      </p:sp>
    </p:spTree>
    <p:extLst>
      <p:ext uri="{BB962C8B-B14F-4D97-AF65-F5344CB8AC3E}">
        <p14:creationId xmlns:p14="http://schemas.microsoft.com/office/powerpoint/2010/main" val="320169984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7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BF6F177D6D67458FBB47B7752A5A77" ma:contentTypeVersion="14" ma:contentTypeDescription="Create a new document." ma:contentTypeScope="" ma:versionID="511b56ef837cb8094633f79cbf6101bb">
  <xsd:schema xmlns:xsd="http://www.w3.org/2001/XMLSchema" xmlns:xs="http://www.w3.org/2001/XMLSchema" xmlns:p="http://schemas.microsoft.com/office/2006/metadata/properties" xmlns:ns2="d3abd939-9d94-49d1-925a-c93fb1ff4b6e" xmlns:ns3="bc761791-33a0-47b7-8145-9d3c2515a3a0" targetNamespace="http://schemas.microsoft.com/office/2006/metadata/properties" ma:root="true" ma:fieldsID="a0782334ac6122055466205749466095" ns2:_="" ns3:_="">
    <xsd:import namespace="d3abd939-9d94-49d1-925a-c93fb1ff4b6e"/>
    <xsd:import namespace="bc761791-33a0-47b7-8145-9d3c2515a3a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SubjectTag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abd939-9d94-49d1-925a-c93fb1ff4b6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SubjectTags" ma:index="14" nillable="true" ma:displayName="Subject Tags" ma:description="Insert any relevant topical areas or subjects" ma:format="Dropdown" ma:internalName="SubjectTags">
      <xsd:simpleType>
        <xsd:union memberTypes="dms:Text">
          <xsd:simpleType>
            <xsd:restriction base="dms:Choice">
              <xsd:enumeration value="ECRP"/>
              <xsd:enumeration value="AI"/>
              <xsd:enumeration value="EPSCOR"/>
              <xsd:enumeration value="SciDAC"/>
              <xsd:enumeration value="Data/Vis"/>
              <xsd:enumeration value="Computer Science"/>
              <xsd:enumeration value="Quantum"/>
              <xsd:enumeration value="Budget Related"/>
            </xsd:restriction>
          </xsd:simpleType>
        </xsd:union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2dabcefd-7191-4d78-9d18-d223e822eda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761791-33a0-47b7-8145-9d3c2515a3a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0ba3bf2f-9f6a-42de-9806-f02ccdd7535d}" ma:internalName="TaxCatchAll" ma:showField="CatchAllData" ma:web="bc761791-33a0-47b7-8145-9d3c2515a3a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3abd939-9d94-49d1-925a-c93fb1ff4b6e">
      <Terms xmlns="http://schemas.microsoft.com/office/infopath/2007/PartnerControls"/>
    </lcf76f155ced4ddcb4097134ff3c332f>
    <SubjectTags xmlns="d3abd939-9d94-49d1-925a-c93fb1ff4b6e" xsi:nil="true"/>
    <TaxCatchAll xmlns="bc761791-33a0-47b7-8145-9d3c2515a3a0" xsi:nil="true"/>
  </documentManagement>
</p:properties>
</file>

<file path=customXml/itemProps1.xml><?xml version="1.0" encoding="utf-8"?>
<ds:datastoreItem xmlns:ds="http://schemas.openxmlformats.org/officeDocument/2006/customXml" ds:itemID="{A9B585CC-6C58-4D0F-87F3-D826C458A20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3abd939-9d94-49d1-925a-c93fb1ff4b6e"/>
    <ds:schemaRef ds:uri="bc761791-33a0-47b7-8145-9d3c2515a3a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A8EE7F5-A494-4A3A-8402-D6EC287A4FD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0A43E79-5F32-4471-8B9A-F8FE298C9716}">
  <ds:schemaRefs>
    <ds:schemaRef ds:uri="http://schemas.microsoft.com/office/2006/metadata/properties"/>
    <ds:schemaRef ds:uri="bc761791-33a0-47b7-8145-9d3c2515a3a0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d3abd939-9d94-49d1-925a-c93fb1ff4b6e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1945</TotalTime>
  <Words>75</Words>
  <Application>Microsoft Macintosh PowerPoint</Application>
  <PresentationFormat>Widescreen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AvenirNext LT Pro Regular</vt:lpstr>
      <vt:lpstr>Calibri</vt:lpstr>
      <vt:lpstr>Calibri Light</vt:lpstr>
      <vt:lpstr>7_office theme</vt:lpstr>
      <vt:lpstr>{{ title }}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Fornari, Marco</dc:creator>
  <cp:lastModifiedBy>Wohlgemuth, Jason</cp:lastModifiedBy>
  <cp:revision>66</cp:revision>
  <dcterms:created xsi:type="dcterms:W3CDTF">2025-01-02T22:07:27Z</dcterms:created>
  <dcterms:modified xsi:type="dcterms:W3CDTF">2025-05-30T18:33:13Z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0x010100D0BF6F177D6D67458FBB47B7752A5A77</vt:lpwstr>
  </property>
  <property fmtid="{D5CDD505-2E9C-101B-9397-08002B2CF9AE}" pid="3" name="MediaServiceImageTags">
    <vt:lpwstr/>
  </property>
</Properties>
</file>